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7" r:id="rId2"/>
    <p:sldId id="258" r:id="rId3"/>
    <p:sldId id="259" r:id="rId4"/>
    <p:sldId id="260" r:id="rId5"/>
    <p:sldId id="261" r:id="rId6"/>
    <p:sldId id="263" r:id="rId7"/>
    <p:sldId id="267" r:id="rId8"/>
    <p:sldId id="268" r:id="rId9"/>
    <p:sldId id="273" r:id="rId10"/>
    <p:sldId id="275" r:id="rId11"/>
    <p:sldId id="274" r:id="rId12"/>
    <p:sldId id="27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浅色样式 3 - 强调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912C8C85-51F0-491E-9774-3900AFEF0FD7}" styleName="浅色样式 2 - 强调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94660"/>
  </p:normalViewPr>
  <p:slideViewPr>
    <p:cSldViewPr snapToGrid="0">
      <p:cViewPr varScale="1">
        <p:scale>
          <a:sx n="91" d="100"/>
          <a:sy n="91" d="100"/>
        </p:scale>
        <p:origin x="32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12/12/2025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E3746550-0EC0-4D8C-AFAB-E286B54715EA}" type="datetimeFigureOut">
              <a:rPr lang="en-IN" smtClean="0"/>
              <a:t>12-12-2025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DA3FA3C-759F-4591-B7B9-0A37F98D3DDA}"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3746550-0EC0-4D8C-AFAB-E286B54715EA}" type="datetimeFigureOut">
              <a:rPr lang="en-IN" smtClean="0"/>
              <a:t>12-12-2025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DA3FA3C-759F-4591-B7B9-0A37F98D3DDA}"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746550-0EC0-4D8C-AFAB-E286B54715EA}" type="datetimeFigureOut">
              <a:rPr lang="en-IN" smtClean="0"/>
              <a:t>12-12-2025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DA3FA3C-759F-4591-B7B9-0A37F98D3DDA}"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E3746550-0EC0-4D8C-AFAB-E286B54715EA}" type="datetimeFigureOut">
              <a:rPr lang="en-IN" smtClean="0"/>
              <a:t>12-12-2025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DA3FA3C-759F-4591-B7B9-0A37F98D3DDA}"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E3746550-0EC0-4D8C-AFAB-E286B54715EA}" type="datetimeFigureOut">
              <a:rPr lang="en-IN" smtClean="0"/>
              <a:t>12-12-2025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DA3FA3C-759F-4591-B7B9-0A37F98D3DDA}"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E3746550-0EC0-4D8C-AFAB-E286B54715EA}" type="datetimeFigureOut">
              <a:rPr lang="en-IN" smtClean="0"/>
              <a:t>12-12-2025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DA3FA3C-759F-4591-B7B9-0A37F98D3DDA}"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746550-0EC0-4D8C-AFAB-E286B54715EA}" type="datetimeFigureOut">
              <a:rPr lang="en-IN" smtClean="0"/>
              <a:t>12-12-2025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DA3FA3C-759F-4591-B7B9-0A37F98D3DDA}"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3746550-0EC0-4D8C-AFAB-E286B54715EA}" type="datetimeFigureOut">
              <a:rPr lang="en-IN" smtClean="0"/>
              <a:t>12-12-2025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DA3FA3C-759F-4591-B7B9-0A37F98D3DDA}"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3746550-0EC0-4D8C-AFAB-E286B54715EA}" type="datetimeFigureOut">
              <a:rPr lang="en-IN" smtClean="0"/>
              <a:t>12-12-2025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DA3FA3C-759F-4591-B7B9-0A37F98D3DDA}"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3746550-0EC0-4D8C-AFAB-E286B54715EA}" type="datetimeFigureOut">
              <a:rPr lang="en-IN" smtClean="0"/>
              <a:t>12-12-2025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DA3FA3C-759F-4591-B7B9-0A37F98D3DDA}"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3746550-0EC0-4D8C-AFAB-E286B54715EA}" type="datetimeFigureOut">
              <a:rPr lang="en-IN" smtClean="0"/>
              <a:t>12-12-2025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DA3FA3C-759F-4591-B7B9-0A37F98D3DDA}"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746550-0EC0-4D8C-AFAB-E286B54715EA}" type="datetimeFigureOut">
              <a:rPr lang="en-IN" smtClean="0"/>
              <a:t>12-12-2025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DA3FA3C-759F-4591-B7B9-0A37F98D3DDA}"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hyperlink" Target="file:///C:\Users\Admin\Desktop\DEV\CERTIFICATE\link.pptx" TargetMode="External"/><Relationship Id="rId4" Type="http://schemas.openxmlformats.org/officeDocument/2006/relationships/hyperlink" Target="https://github.com/google-research-datasets/NewSHead"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11341" y="245034"/>
            <a:ext cx="3506323" cy="1177834"/>
          </a:xfrm>
          <a:prstGeom prst="rect">
            <a:avLst/>
          </a:prstGeom>
        </p:spPr>
      </p:pic>
      <p:pic>
        <p:nvPicPr>
          <p:cNvPr id="3" name="Picture 6" descr="Logo"/>
          <p:cNvPicPr>
            <a:picLocks noChangeAspect="1" noChangeArrowheads="1"/>
          </p:cNvPicPr>
          <p:nvPr/>
        </p:nvPicPr>
        <p:blipFill rotWithShape="1">
          <a:blip r:embed="rId3">
            <a:extLst>
              <a:ext uri="{28A0092B-C50C-407E-A947-70E740481C1C}">
                <a14:useLocalDpi xmlns:a14="http://schemas.microsoft.com/office/drawing/2010/main" val="0"/>
              </a:ext>
            </a:extLst>
          </a:blip>
          <a:srcRect l="16679" t="30190" r="12616" b="28363"/>
          <a:stretch>
            <a:fillRect/>
          </a:stretch>
        </p:blipFill>
        <p:spPr bwMode="auto">
          <a:xfrm>
            <a:off x="9980432" y="213746"/>
            <a:ext cx="1745510" cy="102322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2133139" y="1641207"/>
            <a:ext cx="9095310" cy="584775"/>
          </a:xfrm>
          <a:prstGeom prst="rect">
            <a:avLst/>
          </a:prstGeom>
          <a:noFill/>
        </p:spPr>
        <p:txBody>
          <a:bodyPr wrap="none" rtlCol="0">
            <a:spAutoFit/>
          </a:bodyPr>
          <a:lstStyle/>
          <a:p>
            <a:pPr algn="l"/>
            <a:r>
              <a:rPr lang="en-US" sz="3200" b="1" dirty="0">
                <a:latin typeface="Times New Roman" panose="02020603050405020304" pitchFamily="18" charset="0"/>
                <a:cs typeface="Times New Roman" panose="02020603050405020304" pitchFamily="18" charset="0"/>
                <a:sym typeface="+mn-ea"/>
              </a:rPr>
              <a:t>SENTIMENT ANALYSER FOR ONLINE EXAM </a:t>
            </a:r>
            <a:endParaRPr lang="en-IN" sz="3200" dirty="0"/>
          </a:p>
        </p:txBody>
      </p:sp>
      <p:sp>
        <p:nvSpPr>
          <p:cNvPr id="5" name="TextBox 4"/>
          <p:cNvSpPr txBox="1"/>
          <p:nvPr/>
        </p:nvSpPr>
        <p:spPr>
          <a:xfrm>
            <a:off x="2268782" y="3059350"/>
            <a:ext cx="10546664" cy="2766398"/>
          </a:xfrm>
          <a:prstGeom prst="rect">
            <a:avLst/>
          </a:prstGeom>
          <a:noFill/>
        </p:spPr>
        <p:txBody>
          <a:bodyPr wrap="square" rtlCol="0">
            <a:spAutoFit/>
          </a:bodyPr>
          <a:lstStyle/>
          <a:p>
            <a:pPr>
              <a:lnSpc>
                <a:spcPct val="150000"/>
              </a:lnSpc>
            </a:pPr>
            <a:r>
              <a:rPr lang="en-US" sz="2000" b="1" dirty="0">
                <a:latin typeface="Times New Roman" panose="02020603050405020304" pitchFamily="18" charset="0"/>
                <a:cs typeface="Times New Roman" panose="02020603050405020304" pitchFamily="18" charset="0"/>
              </a:rPr>
              <a:t>NAME                                 : BHUVANASRI T</a:t>
            </a:r>
            <a:br>
              <a:rPr lang="en-US" sz="2000" b="1"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REGISTER NUMBER       : 927624BAM006</a:t>
            </a:r>
            <a:br>
              <a:rPr lang="en-US" sz="2000" b="1"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CLASS                                : CSE(AIML)</a:t>
            </a:r>
            <a:br>
              <a:rPr lang="en-US" sz="2000" b="1"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BATCH                               : I</a:t>
            </a:r>
            <a:br>
              <a:rPr lang="en-US" sz="2000" b="1"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ACADEMIC YEAR           : 2025-2026</a:t>
            </a:r>
            <a:endParaRPr lang="en-IN" sz="2000" b="1" dirty="0">
              <a:latin typeface="Times New Roman" panose="02020603050405020304" pitchFamily="18" charset="0"/>
              <a:cs typeface="Times New Roman" panose="02020603050405020304" pitchFamily="18" charset="0"/>
            </a:endParaRPr>
          </a:p>
          <a:p>
            <a:pPr>
              <a:lnSpc>
                <a:spcPct val="150000"/>
              </a:lnSpc>
            </a:pPr>
            <a:endParaRPr lang="en-IN"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11341" y="245034"/>
            <a:ext cx="3506323" cy="1177834"/>
          </a:xfrm>
          <a:prstGeom prst="rect">
            <a:avLst/>
          </a:prstGeom>
        </p:spPr>
      </p:pic>
      <p:pic>
        <p:nvPicPr>
          <p:cNvPr id="3" name="Picture 6" descr="Logo"/>
          <p:cNvPicPr>
            <a:picLocks noChangeAspect="1" noChangeArrowheads="1"/>
          </p:cNvPicPr>
          <p:nvPr/>
        </p:nvPicPr>
        <p:blipFill rotWithShape="1">
          <a:blip r:embed="rId3">
            <a:extLst>
              <a:ext uri="{28A0092B-C50C-407E-A947-70E740481C1C}">
                <a14:useLocalDpi xmlns:a14="http://schemas.microsoft.com/office/drawing/2010/main" val="0"/>
              </a:ext>
            </a:extLst>
          </a:blip>
          <a:srcRect l="16679" t="30190" r="12616" b="28363"/>
          <a:stretch>
            <a:fillRect/>
          </a:stretch>
        </p:blipFill>
        <p:spPr bwMode="auto">
          <a:xfrm>
            <a:off x="9980432" y="213746"/>
            <a:ext cx="1745510" cy="102322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3817664" y="976592"/>
            <a:ext cx="5803842" cy="892552"/>
          </a:xfrm>
          <a:prstGeom prst="rect">
            <a:avLst/>
          </a:prstGeom>
          <a:noFill/>
        </p:spPr>
        <p:txBody>
          <a:bodyPr wrap="square" rtlCol="0">
            <a:spAutoFit/>
          </a:bodyPr>
          <a:lstStyle/>
          <a:p>
            <a:br>
              <a:rPr lang="en-US" altLang="en-US" sz="2000" b="1" dirty="0">
                <a:latin typeface="Times New Roman" panose="02020603050405020304" pitchFamily="18" charset="0"/>
                <a:cs typeface="Times New Roman" panose="02020603050405020304" pitchFamily="18" charset="0"/>
              </a:rPr>
            </a:br>
            <a:r>
              <a:rPr lang="en-IN" sz="3200" b="1" dirty="0">
                <a:latin typeface="Times New Roman" panose="02020603050405020304" pitchFamily="18" charset="0"/>
                <a:cs typeface="Times New Roman" panose="02020603050405020304" pitchFamily="18" charset="0"/>
              </a:rPr>
              <a:t>PROBLEM STATEMENT</a:t>
            </a:r>
          </a:p>
        </p:txBody>
      </p:sp>
      <p:sp>
        <p:nvSpPr>
          <p:cNvPr id="7" name="TextBox 6">
            <a:extLst>
              <a:ext uri="{FF2B5EF4-FFF2-40B4-BE49-F238E27FC236}">
                <a16:creationId xmlns:a16="http://schemas.microsoft.com/office/drawing/2014/main" id="{8998D6FA-1157-DB8A-E9D4-E63D1CCB5F9D}"/>
              </a:ext>
            </a:extLst>
          </p:cNvPr>
          <p:cNvSpPr txBox="1"/>
          <p:nvPr/>
        </p:nvSpPr>
        <p:spPr>
          <a:xfrm>
            <a:off x="962526" y="2600702"/>
            <a:ext cx="10266948" cy="2120068"/>
          </a:xfrm>
          <a:prstGeom prst="rect">
            <a:avLst/>
          </a:prstGeom>
          <a:noFill/>
        </p:spPr>
        <p:txBody>
          <a:bodyPr wrap="square" rtlCol="0">
            <a:spAutoFit/>
          </a:bodyPr>
          <a:lstStyle/>
          <a:p>
            <a:pPr algn="just">
              <a:lnSpc>
                <a:spcPct val="150000"/>
              </a:lnSpc>
            </a:pPr>
            <a:r>
              <a:rPr lang="en-US" dirty="0">
                <a:latin typeface="Times New Roman" panose="02020603050405020304" pitchFamily="18" charset="0"/>
                <a:cs typeface="Times New Roman" panose="02020603050405020304" pitchFamily="18" charset="0"/>
              </a:rPr>
              <a:t>Although online exams address many logistical challenges in education, they create hidden emotional stress among students which is often overlooked. Current feedback systems focus mainly on technical difficulties and exam quality but fail to measure how students actually feel before and after exams. Without analyzing sentiments, educators cannot fully understand the emotional shifts students undergo, such as pre-exam anxiety, post-exam relief, or disappointment, which directly affect learning outcomes and confidence. </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11341" y="245034"/>
            <a:ext cx="3506323" cy="1177834"/>
          </a:xfrm>
          <a:prstGeom prst="rect">
            <a:avLst/>
          </a:prstGeom>
        </p:spPr>
      </p:pic>
      <p:pic>
        <p:nvPicPr>
          <p:cNvPr id="3" name="Picture 6" descr="Logo"/>
          <p:cNvPicPr>
            <a:picLocks noChangeAspect="1" noChangeArrowheads="1"/>
          </p:cNvPicPr>
          <p:nvPr/>
        </p:nvPicPr>
        <p:blipFill rotWithShape="1">
          <a:blip r:embed="rId3">
            <a:extLst>
              <a:ext uri="{28A0092B-C50C-407E-A947-70E740481C1C}">
                <a14:useLocalDpi xmlns:a14="http://schemas.microsoft.com/office/drawing/2010/main" val="0"/>
              </a:ext>
            </a:extLst>
          </a:blip>
          <a:srcRect l="16679" t="30190" r="12616" b="28363"/>
          <a:stretch>
            <a:fillRect/>
          </a:stretch>
        </p:blipFill>
        <p:spPr bwMode="auto">
          <a:xfrm>
            <a:off x="9980432" y="213746"/>
            <a:ext cx="1745510" cy="102322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3135210" y="1482690"/>
            <a:ext cx="7311092"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OBJECTIVES OF THE PROJECT</a:t>
            </a:r>
          </a:p>
        </p:txBody>
      </p:sp>
      <p:sp>
        <p:nvSpPr>
          <p:cNvPr id="7" name="Rectangle 2"/>
          <p:cNvSpPr>
            <a:spLocks noChangeArrowheads="1"/>
          </p:cNvSpPr>
          <p:nvPr/>
        </p:nvSpPr>
        <p:spPr bwMode="auto">
          <a:xfrm>
            <a:off x="0" y="-184666"/>
            <a:ext cx="3289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5" name="Rectangle 1">
            <a:extLst>
              <a:ext uri="{FF2B5EF4-FFF2-40B4-BE49-F238E27FC236}">
                <a16:creationId xmlns:a16="http://schemas.microsoft.com/office/drawing/2014/main" id="{0ACC802B-E76B-C29D-939B-154B7A587E42}"/>
              </a:ext>
            </a:extLst>
          </p:cNvPr>
          <p:cNvSpPr>
            <a:spLocks noChangeArrowheads="1"/>
          </p:cNvSpPr>
          <p:nvPr/>
        </p:nvSpPr>
        <p:spPr bwMode="auto">
          <a:xfrm>
            <a:off x="1293778" y="2499073"/>
            <a:ext cx="10087583" cy="2351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lnSpc>
                <a:spcPct val="150000"/>
              </a:lnSpc>
              <a:spcBef>
                <a:spcPct val="0"/>
              </a:spcBef>
              <a:spcAft>
                <a:spcPct val="0"/>
              </a:spcAft>
            </a:pPr>
            <a:r>
              <a:rPr lang="en-US" sz="2000" dirty="0">
                <a:latin typeface="Times New Roman" panose="02020603050405020304" pitchFamily="18" charset="0"/>
                <a:cs typeface="Times New Roman" panose="02020603050405020304" pitchFamily="18" charset="0"/>
              </a:rPr>
              <a:t>The main objective of this project is to analyze students’ feedback on online examinations and determine their overall sentiments—whether positive, negative, or neutral.</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The project aims to understand students’ emotions and perceptions toward online exams, helping educators identify common challenges, improve exam platforms, and enhance the overall online learning experience.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11341" y="245034"/>
            <a:ext cx="3506323" cy="1177834"/>
          </a:xfrm>
          <a:prstGeom prst="rect">
            <a:avLst/>
          </a:prstGeom>
        </p:spPr>
      </p:pic>
      <p:pic>
        <p:nvPicPr>
          <p:cNvPr id="3" name="Picture 6" descr="Logo"/>
          <p:cNvPicPr>
            <a:picLocks noChangeAspect="1" noChangeArrowheads="1"/>
          </p:cNvPicPr>
          <p:nvPr/>
        </p:nvPicPr>
        <p:blipFill rotWithShape="1">
          <a:blip r:embed="rId3">
            <a:extLst>
              <a:ext uri="{28A0092B-C50C-407E-A947-70E740481C1C}">
                <a14:useLocalDpi xmlns:a14="http://schemas.microsoft.com/office/drawing/2010/main" val="0"/>
              </a:ext>
            </a:extLst>
          </a:blip>
          <a:srcRect l="16679" t="30190" r="12616" b="28363"/>
          <a:stretch>
            <a:fillRect/>
          </a:stretch>
        </p:blipFill>
        <p:spPr bwMode="auto">
          <a:xfrm>
            <a:off x="9980432" y="213746"/>
            <a:ext cx="1745510" cy="102322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4090380" y="1247077"/>
            <a:ext cx="7311092"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TOOL SELECTION</a:t>
            </a:r>
          </a:p>
        </p:txBody>
      </p:sp>
      <p:sp>
        <p:nvSpPr>
          <p:cNvPr id="7" name="Rectangle 2"/>
          <p:cNvSpPr>
            <a:spLocks noChangeArrowheads="1"/>
          </p:cNvSpPr>
          <p:nvPr/>
        </p:nvSpPr>
        <p:spPr bwMode="auto">
          <a:xfrm>
            <a:off x="0" y="-184666"/>
            <a:ext cx="3289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5" name="TextBox 4">
            <a:extLst>
              <a:ext uri="{FF2B5EF4-FFF2-40B4-BE49-F238E27FC236}">
                <a16:creationId xmlns:a16="http://schemas.microsoft.com/office/drawing/2014/main" id="{3DE9465B-AB97-4056-BC2A-592FEF9313D8}"/>
              </a:ext>
            </a:extLst>
          </p:cNvPr>
          <p:cNvSpPr txBox="1"/>
          <p:nvPr/>
        </p:nvSpPr>
        <p:spPr>
          <a:xfrm>
            <a:off x="2064502" y="2823261"/>
            <a:ext cx="8678779" cy="2031325"/>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DATA COLLECTING : Kaggle , </a:t>
            </a:r>
            <a:r>
              <a:rPr lang="en-IN" dirty="0" err="1">
                <a:latin typeface="Times New Roman" panose="02020603050405020304" pitchFamily="18" charset="0"/>
                <a:cs typeface="Times New Roman" panose="02020603050405020304" pitchFamily="18" charset="0"/>
              </a:rPr>
              <a:t>Chatgpt</a:t>
            </a:r>
            <a:r>
              <a:rPr lang="en-IN" dirty="0">
                <a:latin typeface="Times New Roman" panose="02020603050405020304" pitchFamily="18" charset="0"/>
                <a:cs typeface="Times New Roman" panose="02020603050405020304" pitchFamily="18" charset="0"/>
              </a:rPr>
              <a:t> , GitHub , </a:t>
            </a:r>
            <a:r>
              <a:rPr lang="en-IN" dirty="0" err="1">
                <a:latin typeface="Times New Roman" panose="02020603050405020304" pitchFamily="18" charset="0"/>
                <a:cs typeface="Times New Roman" panose="02020603050405020304" pitchFamily="18" charset="0"/>
              </a:rPr>
              <a:t>Geeksforgeeks</a:t>
            </a:r>
            <a:r>
              <a:rPr lang="en-IN" dirty="0">
                <a:latin typeface="Times New Roman" panose="02020603050405020304" pitchFamily="18" charset="0"/>
                <a:cs typeface="Times New Roman" panose="02020603050405020304" pitchFamily="18" charset="0"/>
              </a:rPr>
              <a:t> </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DATA PREPROCESSING: Watson Studio</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DATA VISUALIZATION : Watson Studio</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64465" y="59141"/>
            <a:ext cx="3506323" cy="1177834"/>
          </a:xfrm>
          <a:prstGeom prst="rect">
            <a:avLst/>
          </a:prstGeom>
        </p:spPr>
      </p:pic>
      <p:pic>
        <p:nvPicPr>
          <p:cNvPr id="3" name="Picture 6" descr="Logo"/>
          <p:cNvPicPr>
            <a:picLocks noChangeAspect="1" noChangeArrowheads="1"/>
          </p:cNvPicPr>
          <p:nvPr/>
        </p:nvPicPr>
        <p:blipFill rotWithShape="1">
          <a:blip r:embed="rId3">
            <a:extLst>
              <a:ext uri="{28A0092B-C50C-407E-A947-70E740481C1C}">
                <a14:useLocalDpi xmlns:a14="http://schemas.microsoft.com/office/drawing/2010/main" val="0"/>
              </a:ext>
            </a:extLst>
          </a:blip>
          <a:srcRect l="16679" t="30190" r="12616" b="28363"/>
          <a:stretch>
            <a:fillRect/>
          </a:stretch>
        </p:blipFill>
        <p:spPr bwMode="auto">
          <a:xfrm>
            <a:off x="10446490" y="6643"/>
            <a:ext cx="1745510" cy="102322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4596682" y="1118681"/>
            <a:ext cx="10432025"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DATA SOURCE</a:t>
            </a:r>
            <a:endParaRPr lang="en-IN" sz="2400" b="1" dirty="0">
              <a:latin typeface="Times New Roman" panose="02020603050405020304" pitchFamily="18" charset="0"/>
              <a:cs typeface="Times New Roman" panose="02020603050405020304" pitchFamily="18" charset="0"/>
            </a:endParaRPr>
          </a:p>
        </p:txBody>
      </p:sp>
      <p:sp>
        <p:nvSpPr>
          <p:cNvPr id="7" name="Rectangle 2"/>
          <p:cNvSpPr>
            <a:spLocks noChangeArrowheads="1"/>
          </p:cNvSpPr>
          <p:nvPr/>
        </p:nvSpPr>
        <p:spPr bwMode="auto">
          <a:xfrm>
            <a:off x="0" y="-184666"/>
            <a:ext cx="3289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8" name="TextBox 7">
            <a:extLst>
              <a:ext uri="{FF2B5EF4-FFF2-40B4-BE49-F238E27FC236}">
                <a16:creationId xmlns:a16="http://schemas.microsoft.com/office/drawing/2014/main" id="{159B5903-099A-7492-5E0E-2DA8F938C5AF}"/>
              </a:ext>
            </a:extLst>
          </p:cNvPr>
          <p:cNvSpPr txBox="1"/>
          <p:nvPr/>
        </p:nvSpPr>
        <p:spPr>
          <a:xfrm>
            <a:off x="442913" y="2472380"/>
            <a:ext cx="10819208" cy="2733056"/>
          </a:xfrm>
          <a:prstGeom prst="rect">
            <a:avLst/>
          </a:prstGeom>
          <a:noFill/>
        </p:spPr>
        <p:txBody>
          <a:bodyPr wrap="square">
            <a:spAutoFit/>
          </a:bodyPr>
          <a:lstStyle/>
          <a:p>
            <a:pPr marL="457200" indent="-457200" algn="l">
              <a:lnSpc>
                <a:spcPct val="120000"/>
              </a:lnSpc>
              <a:spcBef>
                <a:spcPts val="0"/>
              </a:spcBef>
              <a:buAutoNum type="arabicPeriod"/>
            </a:pPr>
            <a:endParaRPr lang="en-IN" sz="1800" dirty="0">
              <a:latin typeface="Times New Roman" panose="02020603050405020304" pitchFamily="18" charset="0"/>
              <a:cs typeface="Times New Roman" panose="02020603050405020304" pitchFamily="18" charset="0"/>
            </a:endParaRPr>
          </a:p>
          <a:p>
            <a:pPr marL="457200" indent="-457200">
              <a:lnSpc>
                <a:spcPct val="120000"/>
              </a:lnSpc>
              <a:spcBef>
                <a:spcPts val="0"/>
              </a:spcBef>
              <a:buAutoNum type="arabicPeriod"/>
            </a:pPr>
            <a:r>
              <a:rPr lang="en-IN" sz="1800" dirty="0">
                <a:latin typeface="Times New Roman" panose="02020603050405020304" pitchFamily="18" charset="0"/>
                <a:cs typeface="Times New Roman" panose="02020603050405020304" pitchFamily="18" charset="0"/>
              </a:rPr>
              <a:t>URL    </a:t>
            </a:r>
            <a:r>
              <a:rPr lang="en-US" dirty="0">
                <a:hlinkClick r:id="rId4"/>
              </a:rPr>
              <a:t>GitHub - google-research-datasets/</a:t>
            </a:r>
            <a:r>
              <a:rPr lang="en-US" dirty="0" err="1">
                <a:hlinkClick r:id="rId4"/>
              </a:rPr>
              <a:t>NewSHead</a:t>
            </a:r>
            <a:r>
              <a:rPr lang="en-US" dirty="0">
                <a:hlinkClick r:id="rId4"/>
              </a:rPr>
              <a:t>: The </a:t>
            </a:r>
            <a:r>
              <a:rPr lang="en-US" dirty="0" err="1">
                <a:hlinkClick r:id="rId4"/>
              </a:rPr>
              <a:t>NewSHead</a:t>
            </a:r>
            <a:r>
              <a:rPr lang="en-US" dirty="0">
                <a:hlinkClick r:id="rId4"/>
              </a:rPr>
              <a:t> dataset is a multi-doc headline dataset used in </a:t>
            </a:r>
            <a:r>
              <a:rPr lang="en-US" dirty="0" err="1">
                <a:hlinkClick r:id="rId4"/>
              </a:rPr>
              <a:t>NHNet</a:t>
            </a:r>
            <a:r>
              <a:rPr lang="en-US" dirty="0">
                <a:hlinkClick r:id="rId4"/>
              </a:rPr>
              <a:t> for training a headline summarization model.</a:t>
            </a:r>
            <a:endParaRPr lang="en-US" dirty="0"/>
          </a:p>
          <a:p>
            <a:pPr marL="457200" indent="-457200">
              <a:lnSpc>
                <a:spcPct val="120000"/>
              </a:lnSpc>
              <a:spcBef>
                <a:spcPts val="0"/>
              </a:spcBef>
              <a:buAutoNum type="arabicPeriod"/>
            </a:pPr>
            <a:endParaRPr lang="en-IN" dirty="0">
              <a:latin typeface="Times New Roman" panose="02020603050405020304" pitchFamily="18" charset="0"/>
              <a:cs typeface="Times New Roman" panose="02020603050405020304" pitchFamily="18" charset="0"/>
            </a:endParaRPr>
          </a:p>
          <a:p>
            <a:pPr>
              <a:lnSpc>
                <a:spcPct val="120000"/>
              </a:lnSpc>
            </a:pPr>
            <a:r>
              <a:rPr lang="en-IN"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hlinkClick r:id="rId5" action="ppaction://hlinkpres?slideindex=1&amp;slidetitle="/>
              </a:rPr>
              <a:t>https://www.kaggle.com/datasets/rmisra/news-category-dataset</a:t>
            </a:r>
            <a:endParaRPr lang="en-IN" dirty="0">
              <a:latin typeface="Times New Roman" panose="02020603050405020304" pitchFamily="18" charset="0"/>
              <a:cs typeface="Times New Roman" panose="02020603050405020304" pitchFamily="18" charset="0"/>
            </a:endParaRPr>
          </a:p>
          <a:p>
            <a:pPr marL="342900" indent="-342900">
              <a:lnSpc>
                <a:spcPct val="120000"/>
              </a:lnSpc>
              <a:buAutoNum type="arabicPlain" startAt="2"/>
            </a:pPr>
            <a:r>
              <a:rPr lang="en-IN" sz="1800" dirty="0">
                <a:latin typeface="Times New Roman" panose="02020603050405020304" pitchFamily="18" charset="0"/>
                <a:cs typeface="Times New Roman" panose="02020603050405020304" pitchFamily="18" charset="0"/>
              </a:rPr>
              <a:t>SAMPLE DATASET</a:t>
            </a:r>
          </a:p>
          <a:p>
            <a:pPr marL="342900" indent="-342900">
              <a:lnSpc>
                <a:spcPct val="120000"/>
              </a:lnSpc>
              <a:buAutoNum type="arabicPlain" startAt="2"/>
            </a:pPr>
            <a:r>
              <a:rPr lang="en-IN" dirty="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 </a:t>
            </a:r>
          </a:p>
          <a:p>
            <a:endParaRPr lang="en-IN" dirty="0"/>
          </a:p>
        </p:txBody>
      </p:sp>
      <p:graphicFrame>
        <p:nvGraphicFramePr>
          <p:cNvPr id="10" name="Table 9">
            <a:extLst>
              <a:ext uri="{FF2B5EF4-FFF2-40B4-BE49-F238E27FC236}">
                <a16:creationId xmlns:a16="http://schemas.microsoft.com/office/drawing/2014/main" id="{B0933F86-11F1-FAA8-AF1C-1A9DE3E042D3}"/>
              </a:ext>
            </a:extLst>
          </p:cNvPr>
          <p:cNvGraphicFramePr>
            <a:graphicFrameLocks noGrp="1"/>
          </p:cNvGraphicFramePr>
          <p:nvPr>
            <p:extLst>
              <p:ext uri="{D42A27DB-BD31-4B8C-83A1-F6EECF244321}">
                <p14:modId xmlns:p14="http://schemas.microsoft.com/office/powerpoint/2010/main" val="1355482714"/>
              </p:ext>
            </p:extLst>
          </p:nvPr>
        </p:nvGraphicFramePr>
        <p:xfrm>
          <a:off x="1181099" y="4629149"/>
          <a:ext cx="8694421" cy="1771651"/>
        </p:xfrm>
        <a:graphic>
          <a:graphicData uri="http://schemas.openxmlformats.org/drawingml/2006/table">
            <a:tbl>
              <a:tblPr/>
              <a:tblGrid>
                <a:gridCol w="1854560">
                  <a:extLst>
                    <a:ext uri="{9D8B030D-6E8A-4147-A177-3AD203B41FA5}">
                      <a16:colId xmlns:a16="http://schemas.microsoft.com/office/drawing/2014/main" val="1254306549"/>
                    </a:ext>
                  </a:extLst>
                </a:gridCol>
                <a:gridCol w="4726376">
                  <a:extLst>
                    <a:ext uri="{9D8B030D-6E8A-4147-A177-3AD203B41FA5}">
                      <a16:colId xmlns:a16="http://schemas.microsoft.com/office/drawing/2014/main" val="3270694859"/>
                    </a:ext>
                  </a:extLst>
                </a:gridCol>
                <a:gridCol w="2113485">
                  <a:extLst>
                    <a:ext uri="{9D8B030D-6E8A-4147-A177-3AD203B41FA5}">
                      <a16:colId xmlns:a16="http://schemas.microsoft.com/office/drawing/2014/main" val="3618054269"/>
                    </a:ext>
                  </a:extLst>
                </a:gridCol>
              </a:tblGrid>
              <a:tr h="1181538">
                <a:tc>
                  <a:txBody>
                    <a:bodyPr/>
                    <a:lstStyle/>
                    <a:p>
                      <a:pPr algn="r" rtl="0" fontAlgn="b">
                        <a:buNone/>
                      </a:pPr>
                      <a:r>
                        <a:rPr lang="en-IN">
                          <a:effectLst/>
                        </a:rPr>
                        <a:t>1</a:t>
                      </a:r>
                    </a:p>
                  </a:txBody>
                  <a:tcPr marL="22860" marR="22860" marT="15240" marB="15240" anchor="b">
                    <a:lnL>
                      <a:noFill/>
                    </a:lnL>
                    <a:lnR>
                      <a:noFill/>
                    </a:lnR>
                    <a:lnT>
                      <a:noFill/>
                    </a:lnT>
                    <a:lnB>
                      <a:noFill/>
                    </a:lnB>
                    <a:noFill/>
                  </a:tcPr>
                </a:tc>
                <a:tc>
                  <a:txBody>
                    <a:bodyPr/>
                    <a:lstStyle/>
                    <a:p>
                      <a:pPr rtl="0" fontAlgn="b">
                        <a:buNone/>
                      </a:pPr>
                      <a:r>
                        <a:rPr lang="en-US">
                          <a:effectLst/>
                        </a:rPr>
                        <a:t>The exam was FAIR &amp; BALANCED</a:t>
                      </a:r>
                    </a:p>
                  </a:txBody>
                  <a:tcPr marL="22860" marR="22860" marT="15240" marB="15240" anchor="b">
                    <a:lnL>
                      <a:noFill/>
                    </a:lnL>
                    <a:lnR>
                      <a:noFill/>
                    </a:lnR>
                    <a:lnT>
                      <a:noFill/>
                    </a:lnT>
                    <a:lnB>
                      <a:noFill/>
                    </a:lnB>
                    <a:noFill/>
                  </a:tcPr>
                </a:tc>
                <a:tc>
                  <a:txBody>
                    <a:bodyPr/>
                    <a:lstStyle/>
                    <a:p>
                      <a:pPr rtl="0" fontAlgn="b">
                        <a:buNone/>
                      </a:pPr>
                      <a:r>
                        <a:rPr lang="en-IN">
                          <a:effectLst/>
                        </a:rPr>
                        <a:t>Engineering</a:t>
                      </a:r>
                    </a:p>
                  </a:txBody>
                  <a:tcPr marL="22860" marR="22860" marT="15240" marB="15240" anchor="b">
                    <a:lnL>
                      <a:noFill/>
                    </a:lnL>
                    <a:lnR>
                      <a:noFill/>
                    </a:lnR>
                    <a:lnT>
                      <a:noFill/>
                    </a:lnT>
                    <a:lnB>
                      <a:noFill/>
                    </a:lnB>
                    <a:noFill/>
                  </a:tcPr>
                </a:tc>
                <a:extLst>
                  <a:ext uri="{0D108BD9-81ED-4DB2-BD59-A6C34878D82A}">
                    <a16:rowId xmlns:a16="http://schemas.microsoft.com/office/drawing/2014/main" val="1538649358"/>
                  </a:ext>
                </a:extLst>
              </a:tr>
              <a:tr h="590113">
                <a:tc>
                  <a:txBody>
                    <a:bodyPr/>
                    <a:lstStyle/>
                    <a:p>
                      <a:pPr algn="r" rtl="0" fontAlgn="b">
                        <a:buNone/>
                      </a:pPr>
                      <a:r>
                        <a:rPr lang="en-IN">
                          <a:effectLst/>
                        </a:rPr>
                        <a:t>2</a:t>
                      </a:r>
                    </a:p>
                  </a:txBody>
                  <a:tcPr marL="22860" marR="22860" marT="15240" marB="15240" anchor="b">
                    <a:lnL>
                      <a:noFill/>
                    </a:lnL>
                    <a:lnR>
                      <a:noFill/>
                    </a:lnR>
                    <a:lnT>
                      <a:noFill/>
                    </a:lnT>
                    <a:lnB>
                      <a:noFill/>
                    </a:lnB>
                    <a:noFill/>
                  </a:tcPr>
                </a:tc>
                <a:tc>
                  <a:txBody>
                    <a:bodyPr/>
                    <a:lstStyle/>
                    <a:p>
                      <a:pPr rtl="0" fontAlgn="b">
                        <a:buNone/>
                      </a:pPr>
                      <a:r>
                        <a:rPr lang="en-US">
                          <a:effectLst/>
                        </a:rPr>
                        <a:t>Coding part was tough and unclear at Q12</a:t>
                      </a:r>
                    </a:p>
                  </a:txBody>
                  <a:tcPr marL="22860" marR="22860" marT="15240" marB="15240" anchor="b">
                    <a:lnL>
                      <a:noFill/>
                    </a:lnL>
                    <a:lnR>
                      <a:noFill/>
                    </a:lnR>
                    <a:lnT>
                      <a:noFill/>
                    </a:lnT>
                    <a:lnB>
                      <a:noFill/>
                    </a:lnB>
                    <a:noFill/>
                  </a:tcPr>
                </a:tc>
                <a:tc>
                  <a:txBody>
                    <a:bodyPr/>
                    <a:lstStyle/>
                    <a:p>
                      <a:pPr rtl="0" fontAlgn="b">
                        <a:buNone/>
                      </a:pPr>
                      <a:r>
                        <a:rPr lang="en-IN" dirty="0">
                          <a:effectLst/>
                        </a:rPr>
                        <a:t>Arts</a:t>
                      </a:r>
                    </a:p>
                  </a:txBody>
                  <a:tcPr marL="22860" marR="22860" marT="15240" marB="15240" anchor="b">
                    <a:lnL>
                      <a:noFill/>
                    </a:lnL>
                    <a:lnR>
                      <a:noFill/>
                    </a:lnR>
                    <a:lnT>
                      <a:noFill/>
                    </a:lnT>
                    <a:lnB>
                      <a:noFill/>
                    </a:lnB>
                    <a:noFill/>
                  </a:tcPr>
                </a:tc>
                <a:extLst>
                  <a:ext uri="{0D108BD9-81ED-4DB2-BD59-A6C34878D82A}">
                    <a16:rowId xmlns:a16="http://schemas.microsoft.com/office/drawing/2014/main" val="3203488762"/>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64468" y="59141"/>
            <a:ext cx="3506323" cy="1177834"/>
          </a:xfrm>
          <a:prstGeom prst="rect">
            <a:avLst/>
          </a:prstGeom>
        </p:spPr>
      </p:pic>
      <p:pic>
        <p:nvPicPr>
          <p:cNvPr id="3" name="Picture 6" descr="Logo"/>
          <p:cNvPicPr>
            <a:picLocks noChangeAspect="1" noChangeArrowheads="1"/>
          </p:cNvPicPr>
          <p:nvPr/>
        </p:nvPicPr>
        <p:blipFill rotWithShape="1">
          <a:blip r:embed="rId3">
            <a:extLst>
              <a:ext uri="{28A0092B-C50C-407E-A947-70E740481C1C}">
                <a14:useLocalDpi xmlns:a14="http://schemas.microsoft.com/office/drawing/2010/main" val="0"/>
              </a:ext>
            </a:extLst>
          </a:blip>
          <a:srcRect l="16679" t="30190" r="12616" b="28363"/>
          <a:stretch>
            <a:fillRect/>
          </a:stretch>
        </p:blipFill>
        <p:spPr bwMode="auto">
          <a:xfrm>
            <a:off x="10282022" y="59141"/>
            <a:ext cx="1745510" cy="102322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3835259" y="1059728"/>
            <a:ext cx="7311092"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DATA PREPROCESSING</a:t>
            </a:r>
          </a:p>
        </p:txBody>
      </p:sp>
      <p:sp>
        <p:nvSpPr>
          <p:cNvPr id="7" name="Rectangle 2"/>
          <p:cNvSpPr>
            <a:spLocks noChangeArrowheads="1"/>
          </p:cNvSpPr>
          <p:nvPr/>
        </p:nvSpPr>
        <p:spPr bwMode="auto">
          <a:xfrm>
            <a:off x="0" y="-184666"/>
            <a:ext cx="3289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8" name="TextBox 7"/>
          <p:cNvSpPr txBox="1"/>
          <p:nvPr/>
        </p:nvSpPr>
        <p:spPr>
          <a:xfrm>
            <a:off x="956965" y="1644503"/>
            <a:ext cx="10943303" cy="4197559"/>
          </a:xfrm>
          <a:prstGeom prst="rect">
            <a:avLst/>
          </a:prstGeom>
          <a:noFill/>
        </p:spPr>
        <p:txBody>
          <a:bodyPr wrap="square">
            <a:spAutoFit/>
          </a:bodyPr>
          <a:lstStyle/>
          <a:p>
            <a:pPr>
              <a:lnSpc>
                <a:spcPct val="150000"/>
              </a:lnSpc>
            </a:pPr>
            <a:r>
              <a:rPr lang="en-US" b="1" dirty="0">
                <a:latin typeface="Times New Roman" panose="02020603050405020304" pitchFamily="18" charset="0"/>
                <a:cs typeface="Times New Roman" panose="02020603050405020304" pitchFamily="18" charset="0"/>
              </a:rPr>
              <a:t>CLEANING STEPS</a:t>
            </a:r>
          </a:p>
          <a:p>
            <a:pPr>
              <a:lnSpc>
                <a:spcPct val="150000"/>
              </a:lnSpc>
            </a:pPr>
            <a:r>
              <a:rPr lang="en-US" dirty="0">
                <a:latin typeface="Times New Roman" panose="02020603050405020304" pitchFamily="18" charset="0"/>
                <a:cs typeface="Times New Roman" panose="02020603050405020304" pitchFamily="18" charset="0"/>
              </a:rPr>
              <a:t>The dataset was carefully checked for missing feedback entries and duplicate responses, and such records were removed to maintain data accuracy and reliability.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Each feedback statement was cleaned by removing punctuation marks, numbers, emojis, and unwanted symbols.</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a:lnSpc>
                <a:spcPct val="150000"/>
              </a:lnSpc>
            </a:pPr>
            <a:r>
              <a:rPr lang="en-US" b="1" dirty="0">
                <a:latin typeface="Times New Roman" panose="02020603050405020304" pitchFamily="18" charset="0"/>
                <a:cs typeface="Times New Roman" panose="02020603050405020304" pitchFamily="18" charset="0"/>
              </a:rPr>
              <a:t>REFINED DATASET</a:t>
            </a:r>
          </a:p>
          <a:p>
            <a:pPr>
              <a:lnSpc>
                <a:spcPct val="150000"/>
              </a:lnSpc>
            </a:pPr>
            <a:r>
              <a:rPr lang="en-US" dirty="0">
                <a:latin typeface="Times New Roman" panose="02020603050405020304" pitchFamily="18" charset="0"/>
                <a:cs typeface="Times New Roman" panose="02020603050405020304" pitchFamily="18" charset="0"/>
              </a:rPr>
              <a:t>Upload the refined dataset file (Excel or CSV) containing student feedback on online exams into IBM Watson Studio and clean the dataset . </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a:lnSpc>
                <a:spcPct val="150000"/>
              </a:lnSpc>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164468" y="59141"/>
            <a:ext cx="3506323" cy="1177834"/>
          </a:xfrm>
          <a:prstGeom prst="rect">
            <a:avLst/>
          </a:prstGeom>
        </p:spPr>
      </p:pic>
      <p:pic>
        <p:nvPicPr>
          <p:cNvPr id="3" name="Picture 6" descr="Logo"/>
          <p:cNvPicPr>
            <a:picLocks noChangeAspect="1" noChangeArrowheads="1"/>
          </p:cNvPicPr>
          <p:nvPr/>
        </p:nvPicPr>
        <p:blipFill rotWithShape="1">
          <a:blip r:embed="rId4">
            <a:extLst>
              <a:ext uri="{28A0092B-C50C-407E-A947-70E740481C1C}">
                <a14:useLocalDpi xmlns:a14="http://schemas.microsoft.com/office/drawing/2010/main" val="0"/>
              </a:ext>
            </a:extLst>
          </a:blip>
          <a:srcRect l="16679" t="30190" r="12616" b="28363"/>
          <a:stretch>
            <a:fillRect/>
          </a:stretch>
        </p:blipFill>
        <p:spPr bwMode="auto">
          <a:xfrm>
            <a:off x="10282022" y="59141"/>
            <a:ext cx="1745510" cy="102322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3474538" y="1081509"/>
            <a:ext cx="7311092" cy="954107"/>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Workflow Chart (Data Collection)</a:t>
            </a:r>
          </a:p>
          <a:p>
            <a:endParaRPr lang="en-IN" sz="2800" dirty="0">
              <a:latin typeface="Times New Roman" panose="02020603050405020304" pitchFamily="18" charset="0"/>
              <a:cs typeface="Times New Roman" panose="02020603050405020304" pitchFamily="18" charset="0"/>
            </a:endParaRPr>
          </a:p>
        </p:txBody>
      </p:sp>
      <p:sp>
        <p:nvSpPr>
          <p:cNvPr id="7" name="Rectangle 2"/>
          <p:cNvSpPr>
            <a:spLocks noChangeArrowheads="1"/>
          </p:cNvSpPr>
          <p:nvPr/>
        </p:nvSpPr>
        <p:spPr bwMode="auto">
          <a:xfrm>
            <a:off x="0" y="-184666"/>
            <a:ext cx="3289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pic>
        <p:nvPicPr>
          <p:cNvPr id="5" name="Picture 4">
            <a:extLst>
              <a:ext uri="{FF2B5EF4-FFF2-40B4-BE49-F238E27FC236}">
                <a16:creationId xmlns:a16="http://schemas.microsoft.com/office/drawing/2014/main" id="{1A0FEB49-2166-F46A-2088-663D863750E2}"/>
              </a:ext>
            </a:extLst>
          </p:cNvPr>
          <p:cNvPicPr>
            <a:picLocks noChangeAspect="1"/>
          </p:cNvPicPr>
          <p:nvPr/>
        </p:nvPicPr>
        <p:blipFill>
          <a:blip r:embed="rId5"/>
          <a:stretch>
            <a:fillRect/>
          </a:stretch>
        </p:blipFill>
        <p:spPr>
          <a:xfrm>
            <a:off x="3474538" y="1558562"/>
            <a:ext cx="4745333" cy="426772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64468" y="59141"/>
            <a:ext cx="3506323" cy="1177834"/>
          </a:xfrm>
          <a:prstGeom prst="rect">
            <a:avLst/>
          </a:prstGeom>
        </p:spPr>
      </p:pic>
      <p:pic>
        <p:nvPicPr>
          <p:cNvPr id="3" name="Picture 6" descr="Logo"/>
          <p:cNvPicPr>
            <a:picLocks noChangeAspect="1" noChangeArrowheads="1"/>
          </p:cNvPicPr>
          <p:nvPr/>
        </p:nvPicPr>
        <p:blipFill rotWithShape="1">
          <a:blip r:embed="rId3">
            <a:extLst>
              <a:ext uri="{28A0092B-C50C-407E-A947-70E740481C1C}">
                <a14:useLocalDpi xmlns:a14="http://schemas.microsoft.com/office/drawing/2010/main" val="0"/>
              </a:ext>
            </a:extLst>
          </a:blip>
          <a:srcRect l="16679" t="30190" r="12616" b="28363"/>
          <a:stretch>
            <a:fillRect/>
          </a:stretch>
        </p:blipFill>
        <p:spPr bwMode="auto">
          <a:xfrm>
            <a:off x="10282022" y="59141"/>
            <a:ext cx="1745510" cy="102322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743337" y="1476186"/>
            <a:ext cx="10697497"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IMPLEMENTED VISUALIZATIONS (SCREENSHOTS)</a:t>
            </a:r>
            <a:endParaRPr lang="en-IN" sz="2800" b="1" dirty="0">
              <a:latin typeface="Times New Roman" panose="02020603050405020304" pitchFamily="18" charset="0"/>
              <a:cs typeface="Times New Roman" panose="02020603050405020304" pitchFamily="18" charset="0"/>
            </a:endParaRPr>
          </a:p>
        </p:txBody>
      </p:sp>
      <p:sp>
        <p:nvSpPr>
          <p:cNvPr id="7" name="Rectangle 2"/>
          <p:cNvSpPr>
            <a:spLocks noChangeArrowheads="1"/>
          </p:cNvSpPr>
          <p:nvPr/>
        </p:nvSpPr>
        <p:spPr bwMode="auto">
          <a:xfrm>
            <a:off x="0" y="-184666"/>
            <a:ext cx="3289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pic>
        <p:nvPicPr>
          <p:cNvPr id="9" name="Picture 8">
            <a:extLst>
              <a:ext uri="{FF2B5EF4-FFF2-40B4-BE49-F238E27FC236}">
                <a16:creationId xmlns:a16="http://schemas.microsoft.com/office/drawing/2014/main" id="{D88A0CC6-2440-FBCD-F6D7-50A4D43BE350}"/>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72455" y="2577829"/>
            <a:ext cx="4964142" cy="3153009"/>
          </a:xfrm>
          <a:prstGeom prst="rect">
            <a:avLst/>
          </a:prstGeom>
        </p:spPr>
      </p:pic>
      <p:pic>
        <p:nvPicPr>
          <p:cNvPr id="11" name="Picture 10">
            <a:extLst>
              <a:ext uri="{FF2B5EF4-FFF2-40B4-BE49-F238E27FC236}">
                <a16:creationId xmlns:a16="http://schemas.microsoft.com/office/drawing/2014/main" id="{35EE7971-B1A2-A2D3-0BE3-EAC38A28B489}"/>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6212731" y="2577829"/>
            <a:ext cx="4964142" cy="315300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4AD021C-A0EB-924C-FA6A-371E1D7FA1EC}"/>
              </a:ext>
            </a:extLst>
          </p:cNvPr>
          <p:cNvPicPr>
            <a:picLocks noChangeAspect="1"/>
          </p:cNvPicPr>
          <p:nvPr/>
        </p:nvPicPr>
        <p:blipFill>
          <a:blip r:embed="rId2"/>
          <a:stretch>
            <a:fillRect/>
          </a:stretch>
        </p:blipFill>
        <p:spPr>
          <a:xfrm>
            <a:off x="164468" y="59141"/>
            <a:ext cx="3506323" cy="1177834"/>
          </a:xfrm>
          <a:prstGeom prst="rect">
            <a:avLst/>
          </a:prstGeom>
        </p:spPr>
      </p:pic>
      <p:pic>
        <p:nvPicPr>
          <p:cNvPr id="3" name="Picture 6" descr="Logo">
            <a:extLst>
              <a:ext uri="{FF2B5EF4-FFF2-40B4-BE49-F238E27FC236}">
                <a16:creationId xmlns:a16="http://schemas.microsoft.com/office/drawing/2014/main" id="{8DE75F9E-DB37-FA37-4A8E-188D13D4B52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679" t="30190" r="12616" b="28363"/>
          <a:stretch>
            <a:fillRect/>
          </a:stretch>
        </p:blipFill>
        <p:spPr bwMode="auto">
          <a:xfrm>
            <a:off x="10282022" y="59141"/>
            <a:ext cx="1745510" cy="102322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7A98D1B-0077-F8FD-7395-CA6D52A6D9BA}"/>
              </a:ext>
            </a:extLst>
          </p:cNvPr>
          <p:cNvSpPr txBox="1"/>
          <p:nvPr/>
        </p:nvSpPr>
        <p:spPr>
          <a:xfrm>
            <a:off x="3881337" y="1035279"/>
            <a:ext cx="5428034"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EXISTING AND PROPOSED </a:t>
            </a:r>
            <a:endParaRPr lang="en-IN" sz="28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FA2F9E3E-B243-A8AD-50BD-D1CD385651DA}"/>
              </a:ext>
            </a:extLst>
          </p:cNvPr>
          <p:cNvSpPr txBox="1"/>
          <p:nvPr/>
        </p:nvSpPr>
        <p:spPr>
          <a:xfrm>
            <a:off x="1452664" y="1558499"/>
            <a:ext cx="9319098" cy="4613058"/>
          </a:xfrm>
          <a:prstGeom prst="rect">
            <a:avLst/>
          </a:prstGeom>
          <a:noFill/>
        </p:spPr>
        <p:txBody>
          <a:bodyPr wrap="square" rtlCol="0">
            <a:spAutoFit/>
          </a:bodyPr>
          <a:lstStyle/>
          <a:p>
            <a:pPr>
              <a:lnSpc>
                <a:spcPct val="150000"/>
              </a:lnSpc>
            </a:pPr>
            <a:r>
              <a:rPr lang="en-US" b="1" dirty="0">
                <a:latin typeface="Times New Roman" panose="02020603050405020304" pitchFamily="18" charset="0"/>
                <a:cs typeface="Times New Roman" panose="02020603050405020304" pitchFamily="18" charset="0"/>
              </a:rPr>
              <a:t>Existing System : </a:t>
            </a:r>
          </a:p>
          <a:p>
            <a:pPr>
              <a:lnSpc>
                <a:spcPct val="150000"/>
              </a:lnSpc>
            </a:pPr>
            <a:r>
              <a:rPr lang="en-US" dirty="0">
                <a:latin typeface="Times New Roman" panose="02020603050405020304" pitchFamily="18" charset="0"/>
                <a:cs typeface="Times New Roman" panose="02020603050405020304" pitchFamily="18" charset="0"/>
              </a:rPr>
              <a:t>In the existing system, student feedback on online exams is collected manually through forms or surveys. The responses are analyzed by teachers, making the process slow and less accurate. There is no automated way to detect positive, negative, or neutral opinions, and overall feedback insights are hard to obtain.---</a:t>
            </a:r>
          </a:p>
          <a:p>
            <a:pPr>
              <a:lnSpc>
                <a:spcPct val="150000"/>
              </a:lnSpc>
            </a:pPr>
            <a:endParaRPr lang="en-US" dirty="0">
              <a:latin typeface="Times New Roman" panose="02020603050405020304" pitchFamily="18" charset="0"/>
              <a:cs typeface="Times New Roman" panose="02020603050405020304" pitchFamily="18" charset="0"/>
            </a:endParaRPr>
          </a:p>
          <a:p>
            <a:pPr>
              <a:lnSpc>
                <a:spcPct val="150000"/>
              </a:lnSpc>
            </a:pPr>
            <a:r>
              <a:rPr lang="en-US" b="1" dirty="0">
                <a:latin typeface="Times New Roman" panose="02020603050405020304" pitchFamily="18" charset="0"/>
                <a:cs typeface="Times New Roman" panose="02020603050405020304" pitchFamily="18" charset="0"/>
              </a:rPr>
              <a:t>Proposed System : </a:t>
            </a:r>
          </a:p>
          <a:p>
            <a:pPr>
              <a:lnSpc>
                <a:spcPct val="150000"/>
              </a:lnSpc>
            </a:pPr>
            <a:r>
              <a:rPr lang="en-US" dirty="0">
                <a:latin typeface="Times New Roman" panose="02020603050405020304" pitchFamily="18" charset="0"/>
                <a:cs typeface="Times New Roman" panose="02020603050405020304" pitchFamily="18" charset="0"/>
              </a:rPr>
              <a:t>The proposed system uses Machine Learning to automatically analyze student feedback. It classifies opinions as Positive, Negative, or Neutral and generates instant reports. This saves time, improves accuracy, and helps administrators quickly understand student satisfaction and improve the online exam process.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36863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E09C94A-C08E-403F-2C92-CFD5B714ED7C}"/>
              </a:ext>
            </a:extLst>
          </p:cNvPr>
          <p:cNvSpPr txBox="1"/>
          <p:nvPr/>
        </p:nvSpPr>
        <p:spPr>
          <a:xfrm>
            <a:off x="5097294" y="1235152"/>
            <a:ext cx="6147881"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DASHBOARD</a:t>
            </a:r>
            <a:endParaRPr lang="en-IN" sz="2400"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16DCAB66-C9DF-3D4F-196C-0B27EFD8FADA}"/>
              </a:ext>
            </a:extLst>
          </p:cNvPr>
          <p:cNvPicPr>
            <a:picLocks noChangeAspect="1"/>
          </p:cNvPicPr>
          <p:nvPr/>
        </p:nvPicPr>
        <p:blipFill>
          <a:blip r:embed="rId2"/>
          <a:stretch>
            <a:fillRect/>
          </a:stretch>
        </p:blipFill>
        <p:spPr>
          <a:xfrm>
            <a:off x="222834" y="249499"/>
            <a:ext cx="3506323" cy="1177834"/>
          </a:xfrm>
          <a:prstGeom prst="rect">
            <a:avLst/>
          </a:prstGeom>
        </p:spPr>
      </p:pic>
      <p:pic>
        <p:nvPicPr>
          <p:cNvPr id="4" name="Picture 6" descr="Logo">
            <a:extLst>
              <a:ext uri="{FF2B5EF4-FFF2-40B4-BE49-F238E27FC236}">
                <a16:creationId xmlns:a16="http://schemas.microsoft.com/office/drawing/2014/main" id="{FA81E25A-FFFD-3102-6D48-F690EDD8F19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679" t="30190" r="12616" b="28363"/>
          <a:stretch>
            <a:fillRect/>
          </a:stretch>
        </p:blipFill>
        <p:spPr bwMode="auto">
          <a:xfrm>
            <a:off x="9961009" y="326801"/>
            <a:ext cx="1745510" cy="102322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47D30CC7-5CE9-26A9-42D9-63A141A0DA4D}"/>
              </a:ext>
            </a:extLst>
          </p:cNvPr>
          <p:cNvPicPr>
            <a:picLocks noChangeAspect="1"/>
          </p:cNvPicPr>
          <p:nvPr/>
        </p:nvPicPr>
        <p:blipFill>
          <a:blip r:embed="rId4" cstate="print">
            <a:extLst>
              <a:ext uri="{28A0092B-C50C-407E-A947-70E740481C1C}">
                <a14:useLocalDpi xmlns:a14="http://schemas.microsoft.com/office/drawing/2010/main" val="0"/>
              </a:ext>
            </a:extLst>
          </a:blip>
          <a:srcRect t="6792" b="6434"/>
          <a:stretch>
            <a:fillRect/>
          </a:stretch>
        </p:blipFill>
        <p:spPr>
          <a:xfrm>
            <a:off x="2654313" y="2105637"/>
            <a:ext cx="7386730" cy="3867325"/>
          </a:xfrm>
          <a:prstGeom prst="rect">
            <a:avLst/>
          </a:prstGeom>
        </p:spPr>
      </p:pic>
    </p:spTree>
    <p:extLst>
      <p:ext uri="{BB962C8B-B14F-4D97-AF65-F5344CB8AC3E}">
        <p14:creationId xmlns:p14="http://schemas.microsoft.com/office/powerpoint/2010/main" val="30294004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BE9A1F3-E2A8-5810-44F4-A8F8694CA72E}"/>
              </a:ext>
            </a:extLst>
          </p:cNvPr>
          <p:cNvPicPr>
            <a:picLocks noChangeAspect="1"/>
          </p:cNvPicPr>
          <p:nvPr/>
        </p:nvPicPr>
        <p:blipFill>
          <a:blip r:embed="rId2"/>
          <a:stretch>
            <a:fillRect/>
          </a:stretch>
        </p:blipFill>
        <p:spPr>
          <a:xfrm>
            <a:off x="164468" y="59141"/>
            <a:ext cx="3506323" cy="1177834"/>
          </a:xfrm>
          <a:prstGeom prst="rect">
            <a:avLst/>
          </a:prstGeom>
        </p:spPr>
      </p:pic>
      <p:pic>
        <p:nvPicPr>
          <p:cNvPr id="3" name="Picture 6" descr="Logo">
            <a:extLst>
              <a:ext uri="{FF2B5EF4-FFF2-40B4-BE49-F238E27FC236}">
                <a16:creationId xmlns:a16="http://schemas.microsoft.com/office/drawing/2014/main" id="{7C28A677-8806-A063-FF45-FDC65677F55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679" t="30190" r="12616" b="28363"/>
          <a:stretch>
            <a:fillRect/>
          </a:stretch>
        </p:blipFill>
        <p:spPr bwMode="auto">
          <a:xfrm>
            <a:off x="10282022" y="59141"/>
            <a:ext cx="1745510" cy="102322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989B587-4183-CE78-6863-A8B0D31FB75F}"/>
              </a:ext>
            </a:extLst>
          </p:cNvPr>
          <p:cNvSpPr txBox="1"/>
          <p:nvPr/>
        </p:nvSpPr>
        <p:spPr>
          <a:xfrm>
            <a:off x="3287836" y="1058825"/>
            <a:ext cx="6994186"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ADVANTAGE AND DISADVANTAGE</a:t>
            </a:r>
            <a:endParaRPr lang="en-IN" sz="28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91D8AE8B-D267-E343-204C-0266B989A29C}"/>
              </a:ext>
            </a:extLst>
          </p:cNvPr>
          <p:cNvSpPr txBox="1"/>
          <p:nvPr/>
        </p:nvSpPr>
        <p:spPr>
          <a:xfrm>
            <a:off x="1436451" y="1782235"/>
            <a:ext cx="9319098" cy="3782061"/>
          </a:xfrm>
          <a:prstGeom prst="rect">
            <a:avLst/>
          </a:prstGeom>
          <a:noFill/>
        </p:spPr>
        <p:txBody>
          <a:bodyPr wrap="square" rtlCol="0">
            <a:spAutoFit/>
          </a:bodyPr>
          <a:lstStyle/>
          <a:p>
            <a:pPr>
              <a:lnSpc>
                <a:spcPct val="150000"/>
              </a:lnSpc>
            </a:pPr>
            <a:r>
              <a:rPr lang="en-US" b="1" dirty="0">
                <a:latin typeface="Times New Roman" panose="02020603050405020304" pitchFamily="18" charset="0"/>
                <a:cs typeface="Times New Roman" panose="02020603050405020304" pitchFamily="18" charset="0"/>
              </a:rPr>
              <a:t>Advantages : </a:t>
            </a:r>
          </a:p>
          <a:p>
            <a:pPr>
              <a:lnSpc>
                <a:spcPct val="150000"/>
              </a:lnSpc>
            </a:pPr>
            <a:r>
              <a:rPr lang="en-US" dirty="0">
                <a:latin typeface="Times New Roman" panose="02020603050405020304" pitchFamily="18" charset="0"/>
                <a:cs typeface="Times New Roman" panose="02020603050405020304" pitchFamily="18" charset="0"/>
              </a:rPr>
              <a:t>The system quickly analyzes student feedback and classifies it as positive, negative, or neutral. It saves time, reduces manual effort, and gives accurate insights to improve the online exam process. Real-time reports help teachers understand student satisfaction easily.</a:t>
            </a:r>
          </a:p>
          <a:p>
            <a:pPr>
              <a:lnSpc>
                <a:spcPct val="150000"/>
              </a:lnSpc>
            </a:pPr>
            <a:endParaRPr lang="en-US" dirty="0">
              <a:latin typeface="Times New Roman" panose="02020603050405020304" pitchFamily="18" charset="0"/>
              <a:cs typeface="Times New Roman" panose="02020603050405020304" pitchFamily="18" charset="0"/>
            </a:endParaRPr>
          </a:p>
          <a:p>
            <a:pPr>
              <a:lnSpc>
                <a:spcPct val="150000"/>
              </a:lnSpc>
            </a:pPr>
            <a:r>
              <a:rPr lang="en-US" b="1" dirty="0">
                <a:latin typeface="Times New Roman" panose="02020603050405020304" pitchFamily="18" charset="0"/>
                <a:cs typeface="Times New Roman" panose="02020603050405020304" pitchFamily="18" charset="0"/>
              </a:rPr>
              <a:t>Disadvantages : </a:t>
            </a:r>
          </a:p>
          <a:p>
            <a:pPr>
              <a:lnSpc>
                <a:spcPct val="150000"/>
              </a:lnSpc>
            </a:pPr>
            <a:r>
              <a:rPr lang="en-US" dirty="0">
                <a:latin typeface="Times New Roman" panose="02020603050405020304" pitchFamily="18" charset="0"/>
                <a:cs typeface="Times New Roman" panose="02020603050405020304" pitchFamily="18" charset="0"/>
              </a:rPr>
              <a:t>The system’s accuracy depends on the quality of the dataset. It may misclassify unclear or sarcastic feedback and needs internet access and system resources for processing. Model training also takes time and technical skill.</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88313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64468" y="59141"/>
            <a:ext cx="3506323" cy="1177834"/>
          </a:xfrm>
          <a:prstGeom prst="rect">
            <a:avLst/>
          </a:prstGeom>
        </p:spPr>
      </p:pic>
      <p:pic>
        <p:nvPicPr>
          <p:cNvPr id="3" name="Picture 6" descr="Logo"/>
          <p:cNvPicPr>
            <a:picLocks noChangeAspect="1" noChangeArrowheads="1"/>
          </p:cNvPicPr>
          <p:nvPr/>
        </p:nvPicPr>
        <p:blipFill rotWithShape="1">
          <a:blip r:embed="rId3">
            <a:extLst>
              <a:ext uri="{28A0092B-C50C-407E-A947-70E740481C1C}">
                <a14:useLocalDpi xmlns:a14="http://schemas.microsoft.com/office/drawing/2010/main" val="0"/>
              </a:ext>
            </a:extLst>
          </a:blip>
          <a:srcRect l="16679" t="30190" r="12616" b="28363"/>
          <a:stretch>
            <a:fillRect/>
          </a:stretch>
        </p:blipFill>
        <p:spPr bwMode="auto">
          <a:xfrm>
            <a:off x="10282022" y="59141"/>
            <a:ext cx="1745510" cy="102322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3899483" y="2563197"/>
            <a:ext cx="4392295" cy="1014730"/>
          </a:xfrm>
          <a:prstGeom prst="rect">
            <a:avLst/>
          </a:prstGeom>
          <a:noFill/>
        </p:spPr>
        <p:txBody>
          <a:bodyPr wrap="none" rtlCol="0">
            <a:spAutoFit/>
          </a:bodyPr>
          <a:lstStyle/>
          <a:p>
            <a:r>
              <a:rPr lang="en-US" sz="6000" b="1" dirty="0">
                <a:latin typeface="Calibri" panose="020F0502020204030204" charset="0"/>
                <a:cs typeface="Calibri" panose="020F0502020204030204" charset="0"/>
              </a:rPr>
              <a:t>THANK YOU !</a:t>
            </a:r>
            <a:endParaRPr lang="en-IN" sz="6000" b="1" dirty="0">
              <a:latin typeface="Calibri" panose="020F0502020204030204" charset="0"/>
              <a:cs typeface="Calibri" panose="020F050202020403020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249</TotalTime>
  <Words>563</Words>
  <Application>Microsoft Office PowerPoint</Application>
  <PresentationFormat>Widescreen</PresentationFormat>
  <Paragraphs>52</Paragraphs>
  <Slides>12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soumyat123@outlook.com</dc:creator>
  <cp:lastModifiedBy>arthika b</cp:lastModifiedBy>
  <cp:revision>14</cp:revision>
  <dcterms:created xsi:type="dcterms:W3CDTF">2025-11-02T09:41:00Z</dcterms:created>
  <dcterms:modified xsi:type="dcterms:W3CDTF">2025-12-12T17:15:37Z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4E15EEE559C04F2AAA04F365B80D092F_13</vt:lpwstr>
  </property>
  <property fmtid="{D5CDD505-2E9C-101B-9397-08002B2CF9AE}" pid="3" name="KSOProductBuildVer">
    <vt:lpwstr>1033-12.2.0.23131</vt:lpwstr>
  </property>
</Properties>
</file>